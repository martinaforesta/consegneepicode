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EA327C-CC1B-60C8-9A41-9C94B4E4B1D1}" v="1803" dt="2026-07-21T19:34:15.4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Stile con tema 1 - Color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EDB5544C-9719-932D-6575-6A2343CE3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165339"/>
              </p:ext>
            </p:extLst>
          </p:nvPr>
        </p:nvGraphicFramePr>
        <p:xfrm>
          <a:off x="262708" y="4670261"/>
          <a:ext cx="1158163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457">
                  <a:extLst>
                    <a:ext uri="{9D8B030D-6E8A-4147-A177-3AD203B41FA5}">
                      <a16:colId xmlns:a16="http://schemas.microsoft.com/office/drawing/2014/main" val="3585683352"/>
                    </a:ext>
                  </a:extLst>
                </a:gridCol>
                <a:gridCol w="684248">
                  <a:extLst>
                    <a:ext uri="{9D8B030D-6E8A-4147-A177-3AD203B41FA5}">
                      <a16:colId xmlns:a16="http://schemas.microsoft.com/office/drawing/2014/main" val="1637882527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2714928766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3366117645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460063295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3869179993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2206383211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213697339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4188295841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829247167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3785113554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4232701184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218739518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4120174058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227206277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188175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b="1" i="1">
                          <a:solidFill>
                            <a:schemeClr val="bg1"/>
                          </a:solidFill>
                        </a:rPr>
                        <a:t>  P4</a:t>
                      </a:r>
                      <a:endParaRPr lang="it-IT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03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b="1" i="1">
                          <a:solidFill>
                            <a:schemeClr val="bg1"/>
                          </a:solidFill>
                        </a:rPr>
                        <a:t>  P3</a:t>
                      </a:r>
                      <a:endParaRPr lang="it-IT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664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b="1" i="1">
                          <a:solidFill>
                            <a:schemeClr val="bg1"/>
                          </a:solidFill>
                        </a:rPr>
                        <a:t>  P2</a:t>
                      </a:r>
                      <a:endParaRPr lang="it-IT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>
                          <a:solidFill>
                            <a:schemeClr val="bg1"/>
                          </a:solidFill>
                        </a:rPr>
                        <a:t>  P1</a:t>
                      </a:r>
                      <a:endParaRPr lang="it-IT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24421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4E85A541-28FE-8DD0-E6DD-3182D83D5A20}"/>
              </a:ext>
            </a:extLst>
          </p:cNvPr>
          <p:cNvSpPr txBox="1"/>
          <p:nvPr/>
        </p:nvSpPr>
        <p:spPr>
          <a:xfrm>
            <a:off x="11844129" y="4343714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i="1"/>
              <a:t>T</a:t>
            </a:r>
          </a:p>
          <a:p>
            <a:pPr algn="l"/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3D05F6C-8497-5C27-8FE5-14B95606C695}"/>
              </a:ext>
            </a:extLst>
          </p:cNvPr>
          <p:cNvSpPr txBox="1"/>
          <p:nvPr/>
        </p:nvSpPr>
        <p:spPr>
          <a:xfrm>
            <a:off x="713882" y="6155949"/>
            <a:ext cx="114299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    0            1              2            3             4              5             6            7             8              9           10          11           12          13          14          15     </a:t>
            </a:r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ADC571B-606D-E7BE-9F4C-B1AD3CCADE60}"/>
              </a:ext>
            </a:extLst>
          </p:cNvPr>
          <p:cNvSpPr txBox="1"/>
          <p:nvPr/>
        </p:nvSpPr>
        <p:spPr>
          <a:xfrm>
            <a:off x="4571526" y="32704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i="1"/>
              <a:t>Scheduling della CPU</a:t>
            </a:r>
            <a:endParaRPr lang="it-IT" b="1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2516E31-672F-7068-72E7-156B7F63485E}"/>
              </a:ext>
            </a:extLst>
          </p:cNvPr>
          <p:cNvSpPr txBox="1"/>
          <p:nvPr/>
        </p:nvSpPr>
        <p:spPr>
          <a:xfrm>
            <a:off x="704099" y="692268"/>
            <a:ext cx="104575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L'esercizio di oggi richiede di mostr</a:t>
            </a:r>
            <a:r>
              <a:rPr lang="it-IT"/>
              <a:t>are i meccanismi di pianificazione dell'utilizzo della CPU</a:t>
            </a:r>
            <a:endParaRPr lang="it-IT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ADC1897-3AF9-ACE2-9655-C487DE212851}"/>
              </a:ext>
            </a:extLst>
          </p:cNvPr>
          <p:cNvSpPr txBox="1"/>
          <p:nvPr/>
        </p:nvSpPr>
        <p:spPr>
          <a:xfrm>
            <a:off x="716248" y="1064906"/>
            <a:ext cx="1014548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ea typeface="+mn-lt"/>
                <a:cs typeface="+mn-lt"/>
              </a:rPr>
              <a:t>Traccia: Si considerino 4 processi (P1, P2, P3, P4) con i tempi di esecuzione e di attesa input/output dati in tabella. I processi arrivano alle CPU in ordine P1, P2, P3, P4. Individuare il modo più efficace per la gestione e </a:t>
            </a:r>
            <a:r>
              <a:rPr lang="it-IT" sz="1600" dirty="0" err="1">
                <a:ea typeface="+mn-lt"/>
                <a:cs typeface="+mn-lt"/>
              </a:rPr>
              <a:t>lʼesecuzione</a:t>
            </a:r>
            <a:r>
              <a:rPr lang="it-IT" sz="1600" dirty="0">
                <a:ea typeface="+mn-lt"/>
                <a:cs typeface="+mn-lt"/>
              </a:rPr>
              <a:t> dei processi, tra i metodi già visti a lezione. Abbozzare un diagramma che abbia sulle ascisse il tempo passato da un instante «0» e sulle ordinate il nome del Processo.</a:t>
            </a:r>
            <a:endParaRPr lang="it-IT" sz="1600" dirty="0"/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AF8873DD-9815-EFBE-861C-D99DFFCE2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283" y="2180544"/>
            <a:ext cx="5739492" cy="1357539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9B37447-657A-5DF2-07E1-13C6FE4502DD}"/>
              </a:ext>
            </a:extLst>
          </p:cNvPr>
          <p:cNvSpPr txBox="1"/>
          <p:nvPr/>
        </p:nvSpPr>
        <p:spPr>
          <a:xfrm>
            <a:off x="704889" y="3745315"/>
            <a:ext cx="1098731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it-IT" b="1" i="1" dirty="0"/>
              <a:t>Approccio </a:t>
            </a:r>
            <a:r>
              <a:rPr lang="it-IT" b="1" i="1" dirty="0" err="1"/>
              <a:t>Monotasking</a:t>
            </a:r>
            <a:r>
              <a:rPr lang="it-IT" dirty="0"/>
              <a:t>: con questo metodo la CPU resta ferma su un processo per volta e resta ad aspettarlo anche durante i suoi tempi di attesa per l'I/O. Nessun altro processo si avvia </a:t>
            </a:r>
            <a:r>
              <a:rPr lang="it-IT" dirty="0" err="1"/>
              <a:t>finchè</a:t>
            </a:r>
            <a:r>
              <a:rPr lang="it-IT" dirty="0"/>
              <a:t> quest'ultimo non termina: (in nero, troviamo i secondi di attesa)</a:t>
            </a:r>
          </a:p>
        </p:txBody>
      </p:sp>
    </p:spTree>
    <p:extLst>
      <p:ext uri="{BB962C8B-B14F-4D97-AF65-F5344CB8AC3E}">
        <p14:creationId xmlns:p14="http://schemas.microsoft.com/office/powerpoint/2010/main" val="1198127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3224B2E5-2777-C63F-5C4B-9A1BAD8DE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143058"/>
              </p:ext>
            </p:extLst>
          </p:nvPr>
        </p:nvGraphicFramePr>
        <p:xfrm>
          <a:off x="219165" y="1716605"/>
          <a:ext cx="1158163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457">
                  <a:extLst>
                    <a:ext uri="{9D8B030D-6E8A-4147-A177-3AD203B41FA5}">
                      <a16:colId xmlns:a16="http://schemas.microsoft.com/office/drawing/2014/main" val="3585683352"/>
                    </a:ext>
                  </a:extLst>
                </a:gridCol>
                <a:gridCol w="684248">
                  <a:extLst>
                    <a:ext uri="{9D8B030D-6E8A-4147-A177-3AD203B41FA5}">
                      <a16:colId xmlns:a16="http://schemas.microsoft.com/office/drawing/2014/main" val="1637882527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2714928766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3366117645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460063295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3869179993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2206383211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213697339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4188295841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829247167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3785113554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4232701184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218739518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4120174058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227206277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188175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b="1" i="1">
                          <a:solidFill>
                            <a:schemeClr val="bg1"/>
                          </a:solidFill>
                        </a:rPr>
                        <a:t>  P4</a:t>
                      </a:r>
                      <a:endParaRPr lang="it-IT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03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b="1" i="1">
                          <a:solidFill>
                            <a:schemeClr val="bg1"/>
                          </a:solidFill>
                        </a:rPr>
                        <a:t>  P3</a:t>
                      </a:r>
                      <a:endParaRPr lang="it-IT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664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b="1" i="1">
                          <a:solidFill>
                            <a:schemeClr val="bg1"/>
                          </a:solidFill>
                        </a:rPr>
                        <a:t>  P2</a:t>
                      </a:r>
                      <a:endParaRPr lang="it-IT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>
                          <a:solidFill>
                            <a:schemeClr val="bg1"/>
                          </a:solidFill>
                        </a:rPr>
                        <a:t>  P1</a:t>
                      </a:r>
                      <a:endParaRPr lang="it-IT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24421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480298F-2043-C943-7076-554CA7CC8BEE}"/>
              </a:ext>
            </a:extLst>
          </p:cNvPr>
          <p:cNvSpPr txBox="1"/>
          <p:nvPr/>
        </p:nvSpPr>
        <p:spPr>
          <a:xfrm>
            <a:off x="11800586" y="1390058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i="1"/>
              <a:t>T</a:t>
            </a:r>
          </a:p>
          <a:p>
            <a:pPr algn="l"/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D5792AC-1FF1-A390-C737-7E322B14E996}"/>
              </a:ext>
            </a:extLst>
          </p:cNvPr>
          <p:cNvSpPr txBox="1"/>
          <p:nvPr/>
        </p:nvSpPr>
        <p:spPr>
          <a:xfrm>
            <a:off x="670339" y="3202293"/>
            <a:ext cx="114299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    0            1              2            3             4              5             6            7             8              9           10          11           12          13          14          15     </a:t>
            </a:r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A93D289-FD07-ED58-CF89-18FF5D7AF706}"/>
              </a:ext>
            </a:extLst>
          </p:cNvPr>
          <p:cNvSpPr txBox="1"/>
          <p:nvPr/>
        </p:nvSpPr>
        <p:spPr>
          <a:xfrm>
            <a:off x="430695" y="364434"/>
            <a:ext cx="1145177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2. </a:t>
            </a:r>
            <a:r>
              <a:rPr lang="it-IT" b="1" i="1" dirty="0"/>
              <a:t>Approccio Multitasking</a:t>
            </a:r>
            <a:r>
              <a:rPr lang="it-IT" dirty="0"/>
              <a:t>: La CPU, ottimizza i tempi occupando i momenti di attesa, con un altro processo, quello </a:t>
            </a:r>
            <a:r>
              <a:rPr lang="it-IT"/>
              <a:t>successivo in coda.</a:t>
            </a:r>
          </a:p>
          <a:p>
            <a:r>
              <a:rPr lang="it-IT" dirty="0"/>
              <a:t>Il tutto si struttura in 12  secondi, risparmiando ben 3 secondi dall' approccio </a:t>
            </a:r>
            <a:r>
              <a:rPr lang="it-IT" dirty="0" err="1"/>
              <a:t>monotasking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4870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5AB5E809-497C-3A42-0D99-398E0B102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116087"/>
              </p:ext>
            </p:extLst>
          </p:nvPr>
        </p:nvGraphicFramePr>
        <p:xfrm>
          <a:off x="277222" y="1077975"/>
          <a:ext cx="1158163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457">
                  <a:extLst>
                    <a:ext uri="{9D8B030D-6E8A-4147-A177-3AD203B41FA5}">
                      <a16:colId xmlns:a16="http://schemas.microsoft.com/office/drawing/2014/main" val="3585683352"/>
                    </a:ext>
                  </a:extLst>
                </a:gridCol>
                <a:gridCol w="684248">
                  <a:extLst>
                    <a:ext uri="{9D8B030D-6E8A-4147-A177-3AD203B41FA5}">
                      <a16:colId xmlns:a16="http://schemas.microsoft.com/office/drawing/2014/main" val="1637882527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2714928766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3366117645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460063295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3869179993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2206383211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213697339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4188295841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829247167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3785113554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4232701184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218739518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4120174058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227206277"/>
                    </a:ext>
                  </a:extLst>
                </a:gridCol>
                <a:gridCol w="723852">
                  <a:extLst>
                    <a:ext uri="{9D8B030D-6E8A-4147-A177-3AD203B41FA5}">
                      <a16:colId xmlns:a16="http://schemas.microsoft.com/office/drawing/2014/main" val="188175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b="1" i="1">
                          <a:solidFill>
                            <a:schemeClr val="bg1"/>
                          </a:solidFill>
                        </a:rPr>
                        <a:t>  P4</a:t>
                      </a:r>
                      <a:endParaRPr lang="it-IT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03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b="1" i="1">
                          <a:solidFill>
                            <a:schemeClr val="bg1"/>
                          </a:solidFill>
                        </a:rPr>
                        <a:t>  P3</a:t>
                      </a:r>
                      <a:endParaRPr lang="it-IT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664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b="1" i="1">
                          <a:solidFill>
                            <a:schemeClr val="bg1"/>
                          </a:solidFill>
                        </a:rPr>
                        <a:t>  P2</a:t>
                      </a:r>
                      <a:endParaRPr lang="it-IT" b="1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>
                          <a:solidFill>
                            <a:schemeClr val="bg1"/>
                          </a:solidFill>
                        </a:rPr>
                        <a:t>  P1</a:t>
                      </a:r>
                      <a:endParaRPr lang="it-IT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2442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CC201FE0-D596-B2AA-DB10-83895C0A8154}"/>
              </a:ext>
            </a:extLst>
          </p:cNvPr>
          <p:cNvSpPr txBox="1"/>
          <p:nvPr/>
        </p:nvSpPr>
        <p:spPr>
          <a:xfrm>
            <a:off x="11858643" y="751428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i="1"/>
              <a:t>T</a:t>
            </a:r>
          </a:p>
          <a:p>
            <a:pPr algn="l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A919098-F7D9-0A19-309A-8F813C98220A}"/>
              </a:ext>
            </a:extLst>
          </p:cNvPr>
          <p:cNvSpPr txBox="1"/>
          <p:nvPr/>
        </p:nvSpPr>
        <p:spPr>
          <a:xfrm>
            <a:off x="728396" y="2563663"/>
            <a:ext cx="114299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    0            1              2            3             4              5             6            7             8              9           10          11           12          13          14          15     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7146214-DDD4-0B2E-2C30-927B2B4AA1F9}"/>
              </a:ext>
            </a:extLst>
          </p:cNvPr>
          <p:cNvSpPr txBox="1"/>
          <p:nvPr/>
        </p:nvSpPr>
        <p:spPr>
          <a:xfrm>
            <a:off x="480391" y="281608"/>
            <a:ext cx="113574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3. </a:t>
            </a:r>
            <a:r>
              <a:rPr lang="it-IT" b="1" i="1" dirty="0"/>
              <a:t>Time-Sharing</a:t>
            </a:r>
            <a:r>
              <a:rPr lang="it-IT" dirty="0"/>
              <a:t>: La CPU viene divisa in piccoli intervalli di tempo, tutti della stessa durata, dando l'illusione che </a:t>
            </a:r>
            <a:r>
              <a:rPr lang="it-IT"/>
              <a:t>ogni processo stia lavorando allo stesso momento.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827037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4" baseType="lpstr">
      <vt:lpstr>Tema di Office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315</cp:revision>
  <dcterms:created xsi:type="dcterms:W3CDTF">2026-07-21T18:08:08Z</dcterms:created>
  <dcterms:modified xsi:type="dcterms:W3CDTF">2026-07-21T19:34:41Z</dcterms:modified>
</cp:coreProperties>
</file>